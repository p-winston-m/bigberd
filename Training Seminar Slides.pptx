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  <p:sldMasterId id="2147483648" r:id="rId2"/>
    <p:sldMasterId id="2147483661" r:id="rId3"/>
    <p:sldMasterId id="2147483665" r:id="rId4"/>
  </p:sldMasterIdLst>
  <p:sldIdLst>
    <p:sldId id="257" r:id="rId5"/>
    <p:sldId id="264" r:id="rId6"/>
    <p:sldId id="268" r:id="rId7"/>
    <p:sldId id="270" r:id="rId8"/>
    <p:sldId id="279" r:id="rId9"/>
    <p:sldId id="269" r:id="rId10"/>
    <p:sldId id="271" r:id="rId11"/>
    <p:sldId id="272" r:id="rId12"/>
    <p:sldId id="296" r:id="rId13"/>
    <p:sldId id="274" r:id="rId14"/>
    <p:sldId id="281" r:id="rId15"/>
    <p:sldId id="275" r:id="rId16"/>
    <p:sldId id="273" r:id="rId17"/>
    <p:sldId id="276" r:id="rId18"/>
    <p:sldId id="278" r:id="rId19"/>
    <p:sldId id="277" r:id="rId20"/>
    <p:sldId id="280" r:id="rId21"/>
    <p:sldId id="282" r:id="rId22"/>
    <p:sldId id="294" r:id="rId23"/>
    <p:sldId id="295" r:id="rId24"/>
    <p:sldId id="283" r:id="rId25"/>
    <p:sldId id="290" r:id="rId26"/>
    <p:sldId id="284" r:id="rId27"/>
    <p:sldId id="288" r:id="rId28"/>
    <p:sldId id="285" r:id="rId29"/>
    <p:sldId id="291" r:id="rId30"/>
    <p:sldId id="292" r:id="rId31"/>
    <p:sldId id="293" r:id="rId32"/>
    <p:sldId id="286" r:id="rId33"/>
    <p:sldId id="289" r:id="rId34"/>
    <p:sldId id="260" r:id="rId35"/>
    <p:sldId id="25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40"/>
    <a:srgbClr val="F69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>
        <p:scale>
          <a:sx n="89" d="100"/>
          <a:sy n="89" d="100"/>
        </p:scale>
        <p:origin x="139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B906C7-ED00-4533-8494-590C3506BE41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E48E0E-D013-4C05-BC64-A7B1B4AE61B7}">
      <dgm:prSet/>
      <dgm:spPr/>
      <dgm:t>
        <a:bodyPr/>
        <a:lstStyle/>
        <a:p>
          <a:r>
            <a:rPr lang="en-US"/>
            <a:t>Generates:</a:t>
          </a:r>
        </a:p>
      </dgm:t>
    </dgm:pt>
    <dgm:pt modelId="{B304808B-2DF8-4B3D-95CF-DAB6A3E6E78F}" type="parTrans" cxnId="{FA195B0E-B182-417B-908D-CA33C61A467F}">
      <dgm:prSet/>
      <dgm:spPr/>
      <dgm:t>
        <a:bodyPr/>
        <a:lstStyle/>
        <a:p>
          <a:endParaRPr lang="en-US"/>
        </a:p>
      </dgm:t>
    </dgm:pt>
    <dgm:pt modelId="{02824C56-BDBB-4262-A208-5985A045ED46}" type="sibTrans" cxnId="{FA195B0E-B182-417B-908D-CA33C61A467F}">
      <dgm:prSet/>
      <dgm:spPr/>
      <dgm:t>
        <a:bodyPr/>
        <a:lstStyle/>
        <a:p>
          <a:endParaRPr lang="en-US"/>
        </a:p>
      </dgm:t>
    </dgm:pt>
    <dgm:pt modelId="{745CE6C8-65B5-46C7-87AE-CC3443E54EA8}">
      <dgm:prSet/>
      <dgm:spPr/>
      <dgm:t>
        <a:bodyPr/>
        <a:lstStyle/>
        <a:p>
          <a:r>
            <a:rPr lang="en-US"/>
            <a:t>Organized report directory </a:t>
          </a:r>
        </a:p>
      </dgm:t>
    </dgm:pt>
    <dgm:pt modelId="{9970BCA0-70AF-4A06-806C-3F048238EC66}" type="parTrans" cxnId="{20021291-F30B-4D13-8858-DB96ADF44ECF}">
      <dgm:prSet/>
      <dgm:spPr/>
      <dgm:t>
        <a:bodyPr/>
        <a:lstStyle/>
        <a:p>
          <a:endParaRPr lang="en-US"/>
        </a:p>
      </dgm:t>
    </dgm:pt>
    <dgm:pt modelId="{08905791-D684-4E89-B8D3-F545F0CD3A68}" type="sibTrans" cxnId="{20021291-F30B-4D13-8858-DB96ADF44ECF}">
      <dgm:prSet/>
      <dgm:spPr/>
      <dgm:t>
        <a:bodyPr/>
        <a:lstStyle/>
        <a:p>
          <a:endParaRPr lang="en-US"/>
        </a:p>
      </dgm:t>
    </dgm:pt>
    <dgm:pt modelId="{A0407777-308B-4F70-BEFF-C2B80885DF8C}">
      <dgm:prSet/>
      <dgm:spPr/>
      <dgm:t>
        <a:bodyPr/>
        <a:lstStyle/>
        <a:p>
          <a:r>
            <a:rPr lang="en-US"/>
            <a:t>Summarization file</a:t>
          </a:r>
        </a:p>
      </dgm:t>
    </dgm:pt>
    <dgm:pt modelId="{7D888D21-45EB-4A6A-B2AB-33CBAFE8633C}" type="parTrans" cxnId="{83B8EB67-734E-473F-A0C3-D2CCAB483D73}">
      <dgm:prSet/>
      <dgm:spPr/>
      <dgm:t>
        <a:bodyPr/>
        <a:lstStyle/>
        <a:p>
          <a:endParaRPr lang="en-US"/>
        </a:p>
      </dgm:t>
    </dgm:pt>
    <dgm:pt modelId="{E35FF4FB-E74F-4D1C-A5D1-16EFE4851E2D}" type="sibTrans" cxnId="{83B8EB67-734E-473F-A0C3-D2CCAB483D73}">
      <dgm:prSet/>
      <dgm:spPr/>
      <dgm:t>
        <a:bodyPr/>
        <a:lstStyle/>
        <a:p>
          <a:endParaRPr lang="en-US"/>
        </a:p>
      </dgm:t>
    </dgm:pt>
    <dgm:pt modelId="{9CA70C2B-43BD-4114-ACD2-834B53C4BD2A}">
      <dgm:prSet/>
      <dgm:spPr/>
      <dgm:t>
        <a:bodyPr/>
        <a:lstStyle/>
        <a:p>
          <a:r>
            <a:rPr lang="en-US"/>
            <a:t>Copy of the clean dataset</a:t>
          </a:r>
        </a:p>
      </dgm:t>
    </dgm:pt>
    <dgm:pt modelId="{0475E6E5-784B-4578-B116-EA37208EE06F}" type="parTrans" cxnId="{66EF22ED-74DA-4B9E-BED1-7883235E4DC5}">
      <dgm:prSet/>
      <dgm:spPr/>
      <dgm:t>
        <a:bodyPr/>
        <a:lstStyle/>
        <a:p>
          <a:endParaRPr lang="en-US"/>
        </a:p>
      </dgm:t>
    </dgm:pt>
    <dgm:pt modelId="{DD47A1C9-EB93-4FA3-8C63-9F88CA40A361}" type="sibTrans" cxnId="{66EF22ED-74DA-4B9E-BED1-7883235E4DC5}">
      <dgm:prSet/>
      <dgm:spPr/>
      <dgm:t>
        <a:bodyPr/>
        <a:lstStyle/>
        <a:p>
          <a:endParaRPr lang="en-US"/>
        </a:p>
      </dgm:t>
    </dgm:pt>
    <dgm:pt modelId="{46096F85-14B8-4420-9125-6F6C0EF8C23E}">
      <dgm:prSet/>
      <dgm:spPr/>
      <dgm:t>
        <a:bodyPr/>
        <a:lstStyle/>
        <a:p>
          <a:r>
            <a:rPr lang="en-US"/>
            <a:t>Exploratory analysis .Rmd document</a:t>
          </a:r>
        </a:p>
      </dgm:t>
    </dgm:pt>
    <dgm:pt modelId="{5A7DB2F1-CB3B-461D-A29D-765D2DC85213}" type="parTrans" cxnId="{02975A9F-2051-4169-92FD-F17A20134221}">
      <dgm:prSet/>
      <dgm:spPr/>
      <dgm:t>
        <a:bodyPr/>
        <a:lstStyle/>
        <a:p>
          <a:endParaRPr lang="en-US"/>
        </a:p>
      </dgm:t>
    </dgm:pt>
    <dgm:pt modelId="{A58B7CC9-6388-4B3D-8466-8ABBA85410FF}" type="sibTrans" cxnId="{02975A9F-2051-4169-92FD-F17A20134221}">
      <dgm:prSet/>
      <dgm:spPr/>
      <dgm:t>
        <a:bodyPr/>
        <a:lstStyle/>
        <a:p>
          <a:endParaRPr lang="en-US"/>
        </a:p>
      </dgm:t>
    </dgm:pt>
    <dgm:pt modelId="{69F57429-CC41-40B7-B5FF-493D75467E3E}">
      <dgm:prSet/>
      <dgm:spPr/>
      <dgm:t>
        <a:bodyPr/>
        <a:lstStyle/>
        <a:p>
          <a:r>
            <a:rPr lang="en-US"/>
            <a:t>Univariate Analysis .Rmd document</a:t>
          </a:r>
        </a:p>
      </dgm:t>
    </dgm:pt>
    <dgm:pt modelId="{811372F8-E951-4A4E-9BBC-E1A3DE6CAD34}" type="parTrans" cxnId="{635C3B77-034F-4E22-BFF8-DE5BA68C4E1C}">
      <dgm:prSet/>
      <dgm:spPr/>
      <dgm:t>
        <a:bodyPr/>
        <a:lstStyle/>
        <a:p>
          <a:endParaRPr lang="en-US"/>
        </a:p>
      </dgm:t>
    </dgm:pt>
    <dgm:pt modelId="{1F64794F-8717-4AD9-B21D-041E58384C71}" type="sibTrans" cxnId="{635C3B77-034F-4E22-BFF8-DE5BA68C4E1C}">
      <dgm:prSet/>
      <dgm:spPr/>
      <dgm:t>
        <a:bodyPr/>
        <a:lstStyle/>
        <a:p>
          <a:endParaRPr lang="en-US"/>
        </a:p>
      </dgm:t>
    </dgm:pt>
    <dgm:pt modelId="{4244E092-1953-4BEC-9BBA-88FD9FC373B2}">
      <dgm:prSet/>
      <dgm:spPr/>
      <dgm:t>
        <a:bodyPr/>
        <a:lstStyle/>
        <a:p>
          <a:r>
            <a:rPr lang="en-US" dirty="0"/>
            <a:t>Multiple regression .</a:t>
          </a:r>
          <a:r>
            <a:rPr lang="en-US" dirty="0" err="1"/>
            <a:t>Rmd</a:t>
          </a:r>
          <a:r>
            <a:rPr lang="en-US" dirty="0"/>
            <a:t> document</a:t>
          </a:r>
        </a:p>
      </dgm:t>
    </dgm:pt>
    <dgm:pt modelId="{E8EC5569-6064-40C8-8837-1B5D7BA92EAF}" type="parTrans" cxnId="{10C0EC78-FA51-4937-892E-2D2994C1A0A2}">
      <dgm:prSet/>
      <dgm:spPr/>
      <dgm:t>
        <a:bodyPr/>
        <a:lstStyle/>
        <a:p>
          <a:endParaRPr lang="en-US"/>
        </a:p>
      </dgm:t>
    </dgm:pt>
    <dgm:pt modelId="{46DD9C6F-68CA-4B09-A5A7-BE4E45EDFB28}" type="sibTrans" cxnId="{10C0EC78-FA51-4937-892E-2D2994C1A0A2}">
      <dgm:prSet/>
      <dgm:spPr/>
      <dgm:t>
        <a:bodyPr/>
        <a:lstStyle/>
        <a:p>
          <a:endParaRPr lang="en-US"/>
        </a:p>
      </dgm:t>
    </dgm:pt>
    <dgm:pt modelId="{5633FD81-4A44-4964-9279-0E60358194DF}" type="pres">
      <dgm:prSet presAssocID="{B5B906C7-ED00-4533-8494-590C3506BE41}" presName="Name0" presStyleCnt="0">
        <dgm:presLayoutVars>
          <dgm:dir/>
          <dgm:animLvl val="lvl"/>
          <dgm:resizeHandles val="exact"/>
        </dgm:presLayoutVars>
      </dgm:prSet>
      <dgm:spPr/>
    </dgm:pt>
    <dgm:pt modelId="{0BB565EC-410D-430D-A9A9-30759A7CD373}" type="pres">
      <dgm:prSet presAssocID="{EAE48E0E-D013-4C05-BC64-A7B1B4AE61B7}" presName="linNode" presStyleCnt="0"/>
      <dgm:spPr/>
    </dgm:pt>
    <dgm:pt modelId="{2E05AFA8-1D43-4F99-8522-EE2333469AC9}" type="pres">
      <dgm:prSet presAssocID="{EAE48E0E-D013-4C05-BC64-A7B1B4AE61B7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E8CA85E3-4F57-417D-8EDF-A5FD46B31FBC}" type="pres">
      <dgm:prSet presAssocID="{EAE48E0E-D013-4C05-BC64-A7B1B4AE61B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190DFF09-96E4-4504-A1B3-0C347ED6D21A}" type="presOf" srcId="{46096F85-14B8-4420-9125-6F6C0EF8C23E}" destId="{E8CA85E3-4F57-417D-8EDF-A5FD46B31FBC}" srcOrd="0" destOrd="3" presId="urn:microsoft.com/office/officeart/2005/8/layout/vList5"/>
    <dgm:cxn modelId="{FA195B0E-B182-417B-908D-CA33C61A467F}" srcId="{B5B906C7-ED00-4533-8494-590C3506BE41}" destId="{EAE48E0E-D013-4C05-BC64-A7B1B4AE61B7}" srcOrd="0" destOrd="0" parTransId="{B304808B-2DF8-4B3D-95CF-DAB6A3E6E78F}" sibTransId="{02824C56-BDBB-4262-A208-5985A045ED46}"/>
    <dgm:cxn modelId="{B3B71312-8E6A-420A-A349-7B0E9F8543BC}" type="presOf" srcId="{4244E092-1953-4BEC-9BBA-88FD9FC373B2}" destId="{E8CA85E3-4F57-417D-8EDF-A5FD46B31FBC}" srcOrd="0" destOrd="5" presId="urn:microsoft.com/office/officeart/2005/8/layout/vList5"/>
    <dgm:cxn modelId="{49355626-7B6C-49DE-9CC2-069E09E6C176}" type="presOf" srcId="{9CA70C2B-43BD-4114-ACD2-834B53C4BD2A}" destId="{E8CA85E3-4F57-417D-8EDF-A5FD46B31FBC}" srcOrd="0" destOrd="2" presId="urn:microsoft.com/office/officeart/2005/8/layout/vList5"/>
    <dgm:cxn modelId="{83B8EB67-734E-473F-A0C3-D2CCAB483D73}" srcId="{EAE48E0E-D013-4C05-BC64-A7B1B4AE61B7}" destId="{A0407777-308B-4F70-BEFF-C2B80885DF8C}" srcOrd="1" destOrd="0" parTransId="{7D888D21-45EB-4A6A-B2AB-33CBAFE8633C}" sibTransId="{E35FF4FB-E74F-4D1C-A5D1-16EFE4851E2D}"/>
    <dgm:cxn modelId="{635C3B77-034F-4E22-BFF8-DE5BA68C4E1C}" srcId="{EAE48E0E-D013-4C05-BC64-A7B1B4AE61B7}" destId="{69F57429-CC41-40B7-B5FF-493D75467E3E}" srcOrd="3" destOrd="0" parTransId="{811372F8-E951-4A4E-9BBC-E1A3DE6CAD34}" sibTransId="{1F64794F-8717-4AD9-B21D-041E58384C71}"/>
    <dgm:cxn modelId="{10C0EC78-FA51-4937-892E-2D2994C1A0A2}" srcId="{EAE48E0E-D013-4C05-BC64-A7B1B4AE61B7}" destId="{4244E092-1953-4BEC-9BBA-88FD9FC373B2}" srcOrd="4" destOrd="0" parTransId="{E8EC5569-6064-40C8-8837-1B5D7BA92EAF}" sibTransId="{46DD9C6F-68CA-4B09-A5A7-BE4E45EDFB28}"/>
    <dgm:cxn modelId="{7CC1FD59-1DB1-4C07-9322-A7E8D5FCE6AA}" type="presOf" srcId="{EAE48E0E-D013-4C05-BC64-A7B1B4AE61B7}" destId="{2E05AFA8-1D43-4F99-8522-EE2333469AC9}" srcOrd="0" destOrd="0" presId="urn:microsoft.com/office/officeart/2005/8/layout/vList5"/>
    <dgm:cxn modelId="{C9D4C28C-D7D6-4E68-B6BD-E57708D401B8}" type="presOf" srcId="{745CE6C8-65B5-46C7-87AE-CC3443E54EA8}" destId="{E8CA85E3-4F57-417D-8EDF-A5FD46B31FBC}" srcOrd="0" destOrd="0" presId="urn:microsoft.com/office/officeart/2005/8/layout/vList5"/>
    <dgm:cxn modelId="{20021291-F30B-4D13-8858-DB96ADF44ECF}" srcId="{EAE48E0E-D013-4C05-BC64-A7B1B4AE61B7}" destId="{745CE6C8-65B5-46C7-87AE-CC3443E54EA8}" srcOrd="0" destOrd="0" parTransId="{9970BCA0-70AF-4A06-806C-3F048238EC66}" sibTransId="{08905791-D684-4E89-B8D3-F545F0CD3A68}"/>
    <dgm:cxn modelId="{02975A9F-2051-4169-92FD-F17A20134221}" srcId="{EAE48E0E-D013-4C05-BC64-A7B1B4AE61B7}" destId="{46096F85-14B8-4420-9125-6F6C0EF8C23E}" srcOrd="2" destOrd="0" parTransId="{5A7DB2F1-CB3B-461D-A29D-765D2DC85213}" sibTransId="{A58B7CC9-6388-4B3D-8466-8ABBA85410FF}"/>
    <dgm:cxn modelId="{BE0C02D0-9861-4882-8A23-9F58D9952D47}" type="presOf" srcId="{69F57429-CC41-40B7-B5FF-493D75467E3E}" destId="{E8CA85E3-4F57-417D-8EDF-A5FD46B31FBC}" srcOrd="0" destOrd="4" presId="urn:microsoft.com/office/officeart/2005/8/layout/vList5"/>
    <dgm:cxn modelId="{DE7D80E2-5231-46B1-866E-4B63A5E7E43A}" type="presOf" srcId="{A0407777-308B-4F70-BEFF-C2B80885DF8C}" destId="{E8CA85E3-4F57-417D-8EDF-A5FD46B31FBC}" srcOrd="0" destOrd="1" presId="urn:microsoft.com/office/officeart/2005/8/layout/vList5"/>
    <dgm:cxn modelId="{66EF22ED-74DA-4B9E-BED1-7883235E4DC5}" srcId="{A0407777-308B-4F70-BEFF-C2B80885DF8C}" destId="{9CA70C2B-43BD-4114-ACD2-834B53C4BD2A}" srcOrd="0" destOrd="0" parTransId="{0475E6E5-784B-4578-B116-EA37208EE06F}" sibTransId="{DD47A1C9-EB93-4FA3-8C63-9F88CA40A361}"/>
    <dgm:cxn modelId="{3AD6FAF0-8211-4F7E-9E16-2C3361AE222F}" type="presOf" srcId="{B5B906C7-ED00-4533-8494-590C3506BE41}" destId="{5633FD81-4A44-4964-9279-0E60358194DF}" srcOrd="0" destOrd="0" presId="urn:microsoft.com/office/officeart/2005/8/layout/vList5"/>
    <dgm:cxn modelId="{1C57E13B-DBD1-45D7-BB33-78B784946D9D}" type="presParOf" srcId="{5633FD81-4A44-4964-9279-0E60358194DF}" destId="{0BB565EC-410D-430D-A9A9-30759A7CD373}" srcOrd="0" destOrd="0" presId="urn:microsoft.com/office/officeart/2005/8/layout/vList5"/>
    <dgm:cxn modelId="{D5BF3FB3-ECE0-4A3B-AD4C-51A817543805}" type="presParOf" srcId="{0BB565EC-410D-430D-A9A9-30759A7CD373}" destId="{2E05AFA8-1D43-4F99-8522-EE2333469AC9}" srcOrd="0" destOrd="0" presId="urn:microsoft.com/office/officeart/2005/8/layout/vList5"/>
    <dgm:cxn modelId="{13E7257C-D985-428B-9A6B-CD1781735242}" type="presParOf" srcId="{0BB565EC-410D-430D-A9A9-30759A7CD373}" destId="{E8CA85E3-4F57-417D-8EDF-A5FD46B31FB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A85E3-4F57-417D-8EDF-A5FD46B31FBC}">
      <dsp:nvSpPr>
        <dsp:cNvPr id="0" name=""/>
        <dsp:cNvSpPr/>
      </dsp:nvSpPr>
      <dsp:spPr>
        <a:xfrm rot="5400000">
          <a:off x="1782952" y="517556"/>
          <a:ext cx="3481070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Organized report directory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Summarization file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Copy of the clean dataset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Exploratory analysis .Rmd document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Univariate Analysis .Rmd document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Multiple regression .</a:t>
          </a:r>
          <a:r>
            <a:rPr lang="en-US" sz="2000" kern="1200" dirty="0" err="1"/>
            <a:t>Rmd</a:t>
          </a:r>
          <a:r>
            <a:rPr lang="en-US" sz="2000" kern="1200" dirty="0"/>
            <a:t> document</a:t>
          </a:r>
        </a:p>
      </dsp:txBody>
      <dsp:txXfrm rot="-5400000">
        <a:off x="1865375" y="597019"/>
        <a:ext cx="3154339" cy="3157300"/>
      </dsp:txXfrm>
    </dsp:sp>
    <dsp:sp modelId="{2E05AFA8-1D43-4F99-8522-EE2333469AC9}">
      <dsp:nvSpPr>
        <dsp:cNvPr id="0" name=""/>
        <dsp:cNvSpPr/>
      </dsp:nvSpPr>
      <dsp:spPr>
        <a:xfrm>
          <a:off x="0" y="0"/>
          <a:ext cx="1865376" cy="435133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Generates:</a:t>
          </a:r>
        </a:p>
      </dsp:txBody>
      <dsp:txXfrm>
        <a:off x="91060" y="91060"/>
        <a:ext cx="1683256" cy="4169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with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A12-4281-3148-929F-E1987EBF08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6140" y="3200400"/>
            <a:ext cx="10519719" cy="1828800"/>
          </a:xfrm>
        </p:spPr>
        <p:txBody>
          <a:bodyPr anchor="ctr">
            <a:norm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Add 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9535E-4F1B-2B4A-99D0-7D23A2653B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6140" y="5490664"/>
            <a:ext cx="10519718" cy="105841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rgbClr val="F694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Here</a:t>
            </a:r>
          </a:p>
          <a:p>
            <a:r>
              <a:rPr lang="en-US" dirty="0"/>
              <a:t>Position Title</a:t>
            </a:r>
          </a:p>
        </p:txBody>
      </p:sp>
    </p:spTree>
    <p:extLst>
      <p:ext uri="{BB962C8B-B14F-4D97-AF65-F5344CB8AC3E}">
        <p14:creationId xmlns:p14="http://schemas.microsoft.com/office/powerpoint/2010/main" val="91320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o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A12-4281-3148-929F-E1987EBF08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6140" y="3200400"/>
            <a:ext cx="10519719" cy="2743200"/>
          </a:xfrm>
        </p:spPr>
        <p:txBody>
          <a:bodyPr anchor="ctr">
            <a:norm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Add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62997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3F0A-C91C-DF42-8392-2EEE75A13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5E1C-B105-0F49-A6C6-1C4F8120FE4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283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5CD8-92E6-4E4C-A9ED-60997ACD7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DA1E-E118-7347-90CE-2FEA4D5526C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474E-95C5-A941-B049-6B253312863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991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02A6-8129-8A42-AE30-B8800232CD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1256" y="1041400"/>
            <a:ext cx="10969487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Topic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41C35-DA28-DC40-8D13-E0E6E7ED17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256" y="3521075"/>
            <a:ext cx="10969487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Supporting info goes here.</a:t>
            </a:r>
          </a:p>
        </p:txBody>
      </p:sp>
    </p:spTree>
    <p:extLst>
      <p:ext uri="{BB962C8B-B14F-4D97-AF65-F5344CB8AC3E}">
        <p14:creationId xmlns:p14="http://schemas.microsoft.com/office/powerpoint/2010/main" val="95924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86D4-822F-6440-8820-D2F5AA7C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Topic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87203-5679-774E-8106-D39A68918F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Supporting info goes here.</a:t>
            </a:r>
          </a:p>
        </p:txBody>
      </p:sp>
    </p:spTree>
    <p:extLst>
      <p:ext uri="{BB962C8B-B14F-4D97-AF65-F5344CB8AC3E}">
        <p14:creationId xmlns:p14="http://schemas.microsoft.com/office/powerpoint/2010/main" val="39082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FB54-DD7A-B840-BEE9-133B46091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Topic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E187C-7D18-F043-8D7E-9174E1D20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First category 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7AA01-5E3B-9947-94E9-8DBEBB24FB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926A0-D74B-7040-9576-08885A9CBC0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Second category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82541-84DE-0A4A-B452-4A72AA5D829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099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CC42-4E0F-7245-80A3-DBFC04076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 Goes Here</a:t>
            </a:r>
          </a:p>
        </p:txBody>
      </p:sp>
    </p:spTree>
    <p:extLst>
      <p:ext uri="{BB962C8B-B14F-4D97-AF65-F5344CB8AC3E}">
        <p14:creationId xmlns:p14="http://schemas.microsoft.com/office/powerpoint/2010/main" val="132871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49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273D-4579-6B48-84A6-610C8D7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Topic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B71C-1414-4344-BE9A-4E5AB22248A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BA34D-8BD6-7B4E-901E-37B5C80DC54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Subtopic goes here.</a:t>
            </a:r>
          </a:p>
        </p:txBody>
      </p:sp>
    </p:spTree>
    <p:extLst>
      <p:ext uri="{BB962C8B-B14F-4D97-AF65-F5344CB8AC3E}">
        <p14:creationId xmlns:p14="http://schemas.microsoft.com/office/powerpoint/2010/main" val="313017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362D-8175-DD49-A168-0502388E8F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Topic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E1B8F-0647-594C-B682-05977D5B1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B84CC-AAAA-E748-9A78-C4C9DD0F22B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Supporting info goes here.</a:t>
            </a:r>
          </a:p>
        </p:txBody>
      </p:sp>
    </p:spTree>
    <p:extLst>
      <p:ext uri="{BB962C8B-B14F-4D97-AF65-F5344CB8AC3E}">
        <p14:creationId xmlns:p14="http://schemas.microsoft.com/office/powerpoint/2010/main" val="451342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o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A12-4281-3148-929F-E1987EBF08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6140" y="2057400"/>
            <a:ext cx="10519719" cy="2743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0">
                <a:solidFill>
                  <a:srgbClr val="F6941F"/>
                </a:solidFill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3479098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no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0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with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A12-4281-3148-929F-E1987EBF08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6140" y="1043609"/>
            <a:ext cx="10519719" cy="1828800"/>
          </a:xfrm>
        </p:spPr>
        <p:txBody>
          <a:bodyPr anchor="ctr">
            <a:norm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9535E-4F1B-2B4A-99D0-7D23A2653B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6140" y="3333873"/>
            <a:ext cx="10519718" cy="105841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rgbClr val="F694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Additional information here.</a:t>
            </a:r>
          </a:p>
        </p:txBody>
      </p:sp>
    </p:spTree>
    <p:extLst>
      <p:ext uri="{BB962C8B-B14F-4D97-AF65-F5344CB8AC3E}">
        <p14:creationId xmlns:p14="http://schemas.microsoft.com/office/powerpoint/2010/main" val="1180419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o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A12-4281-3148-929F-E1987EBF08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6140" y="1282148"/>
            <a:ext cx="10519719" cy="2743200"/>
          </a:xfrm>
        </p:spPr>
        <p:txBody>
          <a:bodyPr anchor="ctr">
            <a:norm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4759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no auth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15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 with medium confidence">
            <a:extLst>
              <a:ext uri="{FF2B5EF4-FFF2-40B4-BE49-F238E27FC236}">
                <a16:creationId xmlns:a16="http://schemas.microsoft.com/office/drawing/2014/main" id="{43811D2F-26DE-CC49-AE0B-7C2E4752E0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DE71F-BD04-B443-9A7D-D1BC754D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7959"/>
            <a:ext cx="10515600" cy="274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Add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48692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ED28DF-B9B5-4240-B469-CE97AD99E53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04139-7363-BE49-B955-130A8C2F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5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Topic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4F40F-5806-B842-B69A-01A55649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1507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Supporting info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76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6941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rgbClr val="1157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811D2F-26DE-CC49-AE0B-7C2E4752E0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DE71F-BD04-B443-9A7D-D1BC754D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6088"/>
            <a:ext cx="10515600" cy="274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Section 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296870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6941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811D2F-26DE-CC49-AE0B-7C2E4752E0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DE71F-BD04-B443-9A7D-D1BC754D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274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1551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DBC-31B8-6247-AC66-3D9EC0C1F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bigBERD</a:t>
            </a:r>
            <a:r>
              <a:rPr lang="en-US" dirty="0"/>
              <a:t>: an R package to generate reproducible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36EC5-EB92-B146-B15D-50F914B1F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Biostatistics Intern, UTHSC</a:t>
            </a:r>
          </a:p>
          <a:p>
            <a:r>
              <a:rPr lang="en-US" dirty="0"/>
              <a:t>P Winston Miller</a:t>
            </a:r>
          </a:p>
        </p:txBody>
      </p:sp>
    </p:spTree>
    <p:extLst>
      <p:ext uri="{BB962C8B-B14F-4D97-AF65-F5344CB8AC3E}">
        <p14:creationId xmlns:p14="http://schemas.microsoft.com/office/powerpoint/2010/main" val="214456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C0DD-255C-4E94-B14D-8F38D55E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57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 a nutshell..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F462-F698-40B6-A3F3-50A0DFD76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Requires:</a:t>
            </a:r>
          </a:p>
          <a:p>
            <a:r>
              <a:rPr lang="en-US" dirty="0"/>
              <a:t> </a:t>
            </a:r>
            <a:r>
              <a:rPr lang="en-US" b="1" dirty="0"/>
              <a:t>Clean</a:t>
            </a:r>
            <a:r>
              <a:rPr lang="en-US" dirty="0"/>
              <a:t> data in an </a:t>
            </a:r>
            <a:r>
              <a:rPr lang="en-US" dirty="0" err="1"/>
              <a:t>RData</a:t>
            </a:r>
            <a:r>
              <a:rPr lang="en-US" dirty="0"/>
              <a:t> file</a:t>
            </a:r>
          </a:p>
          <a:p>
            <a:r>
              <a:rPr lang="en-US" dirty="0"/>
              <a:t>Consistent ordering of data</a:t>
            </a:r>
          </a:p>
          <a:p>
            <a:r>
              <a:rPr lang="en-US" dirty="0"/>
              <a:t>Should not be used inside a .</a:t>
            </a:r>
            <a:r>
              <a:rPr lang="en-US" dirty="0" err="1"/>
              <a:t>Rmd</a:t>
            </a:r>
            <a:r>
              <a:rPr lang="en-US" dirty="0"/>
              <a:t> notebook</a:t>
            </a:r>
          </a:p>
          <a:p>
            <a:r>
              <a:rPr lang="en-US" dirty="0"/>
              <a:t>Cases are rows</a:t>
            </a:r>
          </a:p>
          <a:p>
            <a:r>
              <a:rPr lang="en-US" dirty="0"/>
              <a:t>Variables are columns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A7B42AF-77C9-47A6-97B0-1FC3975B3A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1703828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040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AE685-CAD1-4815-8714-DBCC36AD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Organized Report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109B-41A4-469E-A4A3-0D5B40A5C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896" y="2328780"/>
            <a:ext cx="4519108" cy="1802156"/>
          </a:xfrm>
        </p:spPr>
        <p:txBody>
          <a:bodyPr/>
          <a:lstStyle/>
          <a:p>
            <a:r>
              <a:rPr lang="en-US" dirty="0"/>
              <a:t>Name: </a:t>
            </a:r>
          </a:p>
          <a:p>
            <a:pPr marL="457200" lvl="1" indent="0">
              <a:buNone/>
            </a:pPr>
            <a:r>
              <a:rPr lang="en-US" dirty="0"/>
              <a:t>Report_*date of generation*</a:t>
            </a:r>
          </a:p>
          <a:p>
            <a:r>
              <a:rPr lang="en-US" dirty="0"/>
              <a:t>Called: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073A8-6BBA-46AA-AC54-166B07104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72" y="3752550"/>
            <a:ext cx="1006008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24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50EB-6994-44ED-BC9A-EDD15F03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Organized Report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D314-7D19-4EB8-BEE7-5FDF0BDC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077"/>
            <a:ext cx="1711362" cy="4946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FC9726C-0BCE-48FA-B765-D0799FC6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97" y="4155377"/>
            <a:ext cx="7116353" cy="1559302"/>
          </a:xfrm>
          <a:prstGeom prst="rect">
            <a:avLst/>
          </a:prstGeo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90ACABE-49B8-41F4-9639-61BF60DD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124" y="1780140"/>
            <a:ext cx="6853097" cy="19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4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89741E-37EB-439E-AC9C-F46F5BE3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0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2. Summarization File</a:t>
            </a:r>
            <a:br>
              <a:rPr lang="en-US" dirty="0"/>
            </a:br>
            <a:r>
              <a:rPr lang="en-US" sz="1800" dirty="0">
                <a:solidFill>
                  <a:srgbClr val="115740"/>
                </a:solidFill>
              </a:rPr>
              <a:t>info_*name of dataset*_*</a:t>
            </a:r>
            <a:r>
              <a:rPr lang="en-US" sz="1800" dirty="0" err="1">
                <a:solidFill>
                  <a:srgbClr val="115740"/>
                </a:solidFill>
              </a:rPr>
              <a:t>date.time</a:t>
            </a:r>
            <a:r>
              <a:rPr lang="en-US" sz="1800" dirty="0">
                <a:solidFill>
                  <a:srgbClr val="115740"/>
                </a:solidFill>
              </a:rPr>
              <a:t> generated*.csv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342EEC99-2180-4610-B7BC-3D65CE5D3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287" y="2064692"/>
            <a:ext cx="7143078" cy="388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0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195843-94F9-492A-8B4A-A976DBBD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" y="1325563"/>
            <a:ext cx="12179978" cy="3526136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A475B-4AF8-409A-B850-F4FB3CD217FC}"/>
              </a:ext>
            </a:extLst>
          </p:cNvPr>
          <p:cNvSpPr txBox="1"/>
          <p:nvPr/>
        </p:nvSpPr>
        <p:spPr>
          <a:xfrm>
            <a:off x="430306" y="5099125"/>
            <a:ext cx="11058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Informs </a:t>
            </a:r>
            <a:r>
              <a:rPr lang="en-US" dirty="0" err="1"/>
              <a:t>bigBERD</a:t>
            </a:r>
            <a:r>
              <a:rPr lang="en-US" dirty="0"/>
              <a:t> of data contents so that it can make appropriate decisions</a:t>
            </a:r>
          </a:p>
          <a:p>
            <a:pPr marL="342900" indent="-342900">
              <a:buAutoNum type="arabicPeriod"/>
            </a:pPr>
            <a:r>
              <a:rPr lang="en-US" dirty="0"/>
              <a:t>Provides a brief summarization of input dataset for analyst</a:t>
            </a:r>
          </a:p>
        </p:txBody>
      </p:sp>
    </p:spTree>
    <p:extLst>
      <p:ext uri="{BB962C8B-B14F-4D97-AF65-F5344CB8AC3E}">
        <p14:creationId xmlns:p14="http://schemas.microsoft.com/office/powerpoint/2010/main" val="145307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F1F8-B98A-47FA-BF2A-569BE4E9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DFD4-2C9D-4A92-9FD8-C9E7CC760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Name:</a:t>
            </a:r>
          </a:p>
          <a:p>
            <a:pPr marL="457200" lvl="1" indent="0">
              <a:buNone/>
            </a:pPr>
            <a:r>
              <a:rPr lang="en-US" sz="2000" dirty="0" err="1"/>
              <a:t>Exploratory_Analysis</a:t>
            </a:r>
            <a:r>
              <a:rPr lang="en-US" sz="2000" dirty="0"/>
              <a:t>_*</a:t>
            </a:r>
            <a:r>
              <a:rPr lang="en-US" sz="2000" dirty="0" err="1"/>
              <a:t>data.time</a:t>
            </a:r>
            <a:r>
              <a:rPr lang="en-US" sz="2000" dirty="0"/>
              <a:t>*.</a:t>
            </a:r>
            <a:r>
              <a:rPr lang="en-US" sz="2000" dirty="0" err="1"/>
              <a:t>Rmd</a:t>
            </a:r>
            <a:endParaRPr lang="en-US" sz="2000" dirty="0"/>
          </a:p>
          <a:p>
            <a:r>
              <a:rPr lang="en-US" sz="2400" dirty="0"/>
              <a:t>Called: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15E50-8EE7-4927-BD7D-B5EBE1D0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204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 parameters: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Author: required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By: controls bivariate plot generation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5088D76-418D-4236-A5BE-464D7380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50385"/>
            <a:ext cx="5221262" cy="145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8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Table&#10;&#10;Description automatically generated">
            <a:extLst>
              <a:ext uri="{FF2B5EF4-FFF2-40B4-BE49-F238E27FC236}">
                <a16:creationId xmlns:a16="http://schemas.microsoft.com/office/drawing/2014/main" id="{1CB8B4C7-7115-4624-99A0-D59499EE9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339124"/>
            <a:ext cx="8407504" cy="5927291"/>
          </a:xfrm>
          <a:noFill/>
        </p:spPr>
      </p:pic>
    </p:spTree>
    <p:extLst>
      <p:ext uri="{BB962C8B-B14F-4D97-AF65-F5344CB8AC3E}">
        <p14:creationId xmlns:p14="http://schemas.microsoft.com/office/powerpoint/2010/main" val="502648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963084-DEBF-4676-AE07-73A825E1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828" y="155148"/>
            <a:ext cx="7143078" cy="618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5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F879EEE9-D6E2-4371-ADCA-793487F3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83" y="0"/>
            <a:ext cx="9684233" cy="617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3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F1F8-B98A-47FA-BF2A-569BE4E9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DFD4-2C9D-4A92-9FD8-C9E7CC760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Name:</a:t>
            </a:r>
          </a:p>
          <a:p>
            <a:pPr marL="457200" lvl="1" indent="0">
              <a:buNone/>
            </a:pPr>
            <a:r>
              <a:rPr lang="en-US" sz="2000" dirty="0" err="1"/>
              <a:t>Exploratory_Analysis</a:t>
            </a:r>
            <a:r>
              <a:rPr lang="en-US" sz="2000" dirty="0"/>
              <a:t>_*</a:t>
            </a:r>
            <a:r>
              <a:rPr lang="en-US" sz="2000" dirty="0" err="1"/>
              <a:t>data.time</a:t>
            </a:r>
            <a:r>
              <a:rPr lang="en-US" sz="2000" dirty="0"/>
              <a:t>*.</a:t>
            </a:r>
            <a:r>
              <a:rPr lang="en-US" sz="2000" dirty="0" err="1"/>
              <a:t>Rmd</a:t>
            </a:r>
            <a:endParaRPr lang="en-US" sz="2000" dirty="0"/>
          </a:p>
          <a:p>
            <a:r>
              <a:rPr lang="en-US" sz="2400" dirty="0"/>
              <a:t>Called: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15E50-8EE7-4927-BD7D-B5EBE1D0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204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 parameters: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Author: required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By: controls bivariate plot generation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5088D76-418D-4236-A5BE-464D7380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50385"/>
            <a:ext cx="5221262" cy="145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65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B8DE4B-5BBF-4DE1-82EA-C3AA511B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773" y="40341"/>
            <a:ext cx="9778453" cy="62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4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24938F-7FCC-4358-A48C-49945D8E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75" y="623944"/>
            <a:ext cx="11767849" cy="540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66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E2E6-FC1A-49BA-9790-FCB9014F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93CD9-F80A-49B3-B105-8EF4DCC9E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230008"/>
          </a:xfrm>
        </p:spPr>
        <p:txBody>
          <a:bodyPr/>
          <a:lstStyle/>
          <a:p>
            <a:r>
              <a:rPr lang="en-US" dirty="0"/>
              <a:t>Name:</a:t>
            </a:r>
          </a:p>
          <a:p>
            <a:pPr marL="457200" lvl="1" indent="0">
              <a:buNone/>
            </a:pPr>
            <a:r>
              <a:rPr lang="en-US" sz="2000" dirty="0" err="1"/>
              <a:t>Univariate_Analysis_SLR</a:t>
            </a:r>
            <a:r>
              <a:rPr lang="en-US" sz="2000" dirty="0"/>
              <a:t> _*</a:t>
            </a:r>
            <a:r>
              <a:rPr lang="en-US" sz="2000" dirty="0" err="1"/>
              <a:t>data.time</a:t>
            </a:r>
            <a:r>
              <a:rPr lang="en-US" sz="2000" dirty="0"/>
              <a:t>*.</a:t>
            </a:r>
            <a:r>
              <a:rPr lang="en-US" sz="2000" dirty="0" err="1"/>
              <a:t>Rmd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 err="1"/>
              <a:t>Univariate_Analysis</a:t>
            </a:r>
            <a:r>
              <a:rPr lang="en-US" sz="2000" dirty="0"/>
              <a:t> _*</a:t>
            </a:r>
            <a:r>
              <a:rPr lang="en-US" sz="2000" dirty="0" err="1"/>
              <a:t>data.time</a:t>
            </a:r>
            <a:r>
              <a:rPr lang="en-US" sz="2000" dirty="0"/>
              <a:t>*.Rmd</a:t>
            </a:r>
          </a:p>
          <a:p>
            <a:r>
              <a:rPr lang="en-US" dirty="0"/>
              <a:t>Called: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A5388-25A1-405F-9087-E844FE4F6B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Parameters of 2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Within the function call: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Order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SLR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Plt_univ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Within the info file: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Univariate_Condition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SLR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76E70-2FB1-4824-B8D8-EFD163706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8" y="3860989"/>
            <a:ext cx="5536822" cy="142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5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9B3A5-6843-4294-BBB2-CC1D0CBF3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267" y="1368910"/>
            <a:ext cx="9557466" cy="412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2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3F61AB-3095-494A-8308-DE2E004AE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201" y="2624866"/>
            <a:ext cx="4398843" cy="3396316"/>
          </a:xfrm>
          <a:prstGeom prst="rect">
            <a:avLst/>
          </a:prstGeom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FE515067-6E37-4D26-B63F-C7C6567B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45" y="210622"/>
            <a:ext cx="3583440" cy="3016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EDFDD4-7A5E-42F3-98CD-11C4524B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411" y="210622"/>
            <a:ext cx="3733671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1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08F63-6215-40D6-B6EF-4BC70205F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70" y="464105"/>
            <a:ext cx="4754330" cy="527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C9480A-ED46-466F-A9D7-65F10C340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15" y="99482"/>
            <a:ext cx="7088291" cy="4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E6555BCB-5D00-4DD5-9FE1-43863878E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08" y="679488"/>
            <a:ext cx="8353583" cy="49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3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28C36BD3-CAEC-4DEE-9974-74EC5C968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347232"/>
            <a:ext cx="11622122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6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77E709BC-2237-444B-8480-7CD811A1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394864"/>
            <a:ext cx="11650701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29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6E5D-DF62-42BF-8659-D9296341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Multiple Regression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2099-5FA9-4C90-8B2B-D4E48E9E9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961067"/>
          </a:xfrm>
        </p:spPr>
        <p:txBody>
          <a:bodyPr/>
          <a:lstStyle/>
          <a:p>
            <a:r>
              <a:rPr lang="en-US" dirty="0"/>
              <a:t>Named:</a:t>
            </a:r>
          </a:p>
          <a:p>
            <a:pPr marL="457200" lvl="1" indent="0">
              <a:buNone/>
            </a:pPr>
            <a:r>
              <a:rPr lang="en-US" sz="2000" dirty="0" err="1"/>
              <a:t>MLR_Analysis</a:t>
            </a:r>
            <a:r>
              <a:rPr lang="en-US" sz="2000" dirty="0"/>
              <a:t>_*</a:t>
            </a:r>
            <a:r>
              <a:rPr lang="en-US" sz="2000" dirty="0" err="1"/>
              <a:t>data.time</a:t>
            </a:r>
            <a:r>
              <a:rPr lang="en-US" sz="2000" dirty="0"/>
              <a:t>*. </a:t>
            </a:r>
            <a:r>
              <a:rPr lang="en-US" sz="2000" dirty="0" err="1"/>
              <a:t>Rmd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 err="1"/>
              <a:t>MLR_SLR_Analysis</a:t>
            </a:r>
            <a:r>
              <a:rPr lang="en-US" sz="2000" dirty="0"/>
              <a:t>_*</a:t>
            </a:r>
            <a:r>
              <a:rPr lang="en-US" sz="2000" dirty="0" err="1"/>
              <a:t>data.time</a:t>
            </a:r>
            <a:r>
              <a:rPr lang="en-US" sz="2000" dirty="0"/>
              <a:t>*. </a:t>
            </a:r>
            <a:r>
              <a:rPr lang="en-US" sz="2000" dirty="0" err="1"/>
              <a:t>Rmd</a:t>
            </a:r>
            <a:endParaRPr lang="en-US" sz="2000" dirty="0"/>
          </a:p>
          <a:p>
            <a:r>
              <a:rPr lang="en-US" dirty="0"/>
              <a:t>Called: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1431-3195-4D2B-93C3-BD09225873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Parameters of 2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Within the function call: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Author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SLR</a:t>
            </a:r>
          </a:p>
          <a:p>
            <a:pPr marL="0" indent="0">
              <a:buNone/>
            </a:pPr>
            <a:r>
              <a:rPr lang="en-US" dirty="0"/>
              <a:t>2. Within the info file: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MLR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Include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SLR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53F80E29-A18B-4C66-B990-848EFBCA5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84334"/>
            <a:ext cx="458216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4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9B3A5-6843-4294-BBB2-CC1D0CBF3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267" y="1368910"/>
            <a:ext cx="9557466" cy="412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6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1A1FB5-0DA1-4E1D-A0E8-90DACD537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0"/>
            <a:ext cx="6544588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72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86B6BAF2-7FFF-4BFB-9060-F16191592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642813"/>
            <a:ext cx="7954485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2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1937DFE9-2EFA-4B94-A3B5-FA125919E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233181"/>
            <a:ext cx="8040222" cy="4391638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6A420719-3338-4C30-8F65-7ED73843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233181"/>
            <a:ext cx="8040222" cy="4391638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83825486-C00C-4FA0-BE3F-A5BF5A476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233181"/>
            <a:ext cx="8040222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54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hart&#10;&#10;Description automatically generated">
            <a:extLst>
              <a:ext uri="{FF2B5EF4-FFF2-40B4-BE49-F238E27FC236}">
                <a16:creationId xmlns:a16="http://schemas.microsoft.com/office/drawing/2014/main" id="{AC5AE89B-F580-45F5-A42A-37D9A1F8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11" y="451820"/>
            <a:ext cx="9064493" cy="53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34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1BE21D34-C788-444C-BE05-D19AA95B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44" y="562698"/>
            <a:ext cx="7820811" cy="493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93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A1AF9E-B14F-4FD9-95D5-715F2290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79" y="624525"/>
            <a:ext cx="8592642" cy="50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10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103AE15C-FAFF-4320-990C-37DE523BD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0"/>
            <a:ext cx="11155680" cy="623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27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F93B-919F-42E1-84C4-C09C509C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8F9A-F1C1-4B22-8D36-31C232BB9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Upgrade info summary file (excel, conditional formatting)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 up multiple regression plots (develop proprietary function)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Finish documentation for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General code cleanup</a:t>
            </a:r>
          </a:p>
          <a:p>
            <a:pPr marL="0" indent="0">
              <a:buNone/>
            </a:pPr>
            <a:r>
              <a:rPr lang="en-US" dirty="0"/>
              <a:t>________________________________________</a:t>
            </a:r>
          </a:p>
          <a:p>
            <a:r>
              <a:rPr lang="en-US" dirty="0"/>
              <a:t>Add multiple regression for ordinal and multinomial models</a:t>
            </a:r>
          </a:p>
          <a:p>
            <a:r>
              <a:rPr lang="en-US" dirty="0"/>
              <a:t>Add options for different stepwise procedures</a:t>
            </a:r>
          </a:p>
          <a:p>
            <a:r>
              <a:rPr lang="en-US" dirty="0"/>
              <a:t>Plot improvements</a:t>
            </a:r>
          </a:p>
          <a:p>
            <a:r>
              <a:rPr lang="en-US" dirty="0"/>
              <a:t>Additional Diagnostic Plots</a:t>
            </a:r>
          </a:p>
          <a:p>
            <a:r>
              <a:rPr lang="en-US" dirty="0"/>
              <a:t>Detection of large variable input</a:t>
            </a:r>
          </a:p>
          <a:p>
            <a:r>
              <a:rPr lang="en-US" dirty="0"/>
              <a:t>Modify tabling code</a:t>
            </a:r>
          </a:p>
        </p:txBody>
      </p:sp>
    </p:spTree>
    <p:extLst>
      <p:ext uri="{BB962C8B-B14F-4D97-AF65-F5344CB8AC3E}">
        <p14:creationId xmlns:p14="http://schemas.microsoft.com/office/powerpoint/2010/main" val="257490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B0C7-7C26-A94C-909C-C6DCF301C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 to </a:t>
            </a:r>
            <a:r>
              <a:rPr lang="en-US"/>
              <a:t>my mentors:</a:t>
            </a:r>
            <a:br>
              <a:rPr lang="en-US" dirty="0"/>
            </a:br>
            <a:r>
              <a:rPr lang="en-US" dirty="0"/>
              <a:t>Tristan Hayes</a:t>
            </a:r>
            <a:br>
              <a:rPr lang="en-US" dirty="0"/>
            </a:br>
            <a:r>
              <a:rPr lang="en-US" dirty="0"/>
              <a:t>Dr. Fridtjof Thomas</a:t>
            </a:r>
            <a:br>
              <a:rPr lang="en-US" dirty="0"/>
            </a:br>
            <a:r>
              <a:rPr lang="en-US" dirty="0"/>
              <a:t>Dr. Mehmet Kocak</a:t>
            </a:r>
          </a:p>
        </p:txBody>
      </p:sp>
    </p:spTree>
    <p:extLst>
      <p:ext uri="{BB962C8B-B14F-4D97-AF65-F5344CB8AC3E}">
        <p14:creationId xmlns:p14="http://schemas.microsoft.com/office/powerpoint/2010/main" val="3592219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7A43-BC3F-FD46-8E29-3DA8D91DD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0358299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SC_ws_ppt_template_green" id="{72BB5C5F-54F4-4D41-A849-8B1361BF0AFB}" vid="{1CD7C5D5-7372-E545-BC66-09B17C23D80F}"/>
    </a:ext>
  </a:extLst>
</a:theme>
</file>

<file path=ppt/theme/theme2.xml><?xml version="1.0" encoding="utf-8"?>
<a:theme xmlns:a="http://schemas.openxmlformats.org/drawingml/2006/main" name="UTHSC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SC_ws_ppt_template_green" id="{72BB5C5F-54F4-4D41-A849-8B1361BF0AFB}" vid="{DD0AE88C-F3C8-0641-8013-CBF595DF0D3D}"/>
    </a:ext>
  </a:extLst>
</a:theme>
</file>

<file path=ppt/theme/theme3.xml><?xml version="1.0" encoding="utf-8"?>
<a:theme xmlns:a="http://schemas.openxmlformats.org/drawingml/2006/main" name="Section break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SC_ws_ppt_template_green" id="{72BB5C5F-54F4-4D41-A849-8B1361BF0AFB}" vid="{68E5DD6C-94FE-A544-91DF-0A8A01CDDC11}"/>
    </a:ext>
  </a:extLst>
</a:theme>
</file>

<file path=ppt/theme/theme4.xml><?xml version="1.0" encoding="utf-8"?>
<a:theme xmlns:a="http://schemas.openxmlformats.org/drawingml/2006/main" name="1_End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SC_ws_ppt_template_green" id="{72BB5C5F-54F4-4D41-A849-8B1361BF0AFB}" vid="{8BB08CD5-6B39-164B-9014-B01BDCB2B6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ppt-template-green</Template>
  <TotalTime>1128</TotalTime>
  <Words>377</Words>
  <Application>Microsoft Office PowerPoint</Application>
  <PresentationFormat>Widescreen</PresentationFormat>
  <Paragraphs>81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Title slides</vt:lpstr>
      <vt:lpstr>UTHSC content slides</vt:lpstr>
      <vt:lpstr>Section breaks</vt:lpstr>
      <vt:lpstr>1_End slides</vt:lpstr>
      <vt:lpstr>bigBERD: an R package to generate reproducible analysis</vt:lpstr>
      <vt:lpstr>In a nutshell..</vt:lpstr>
      <vt:lpstr>1. Organized Report Directory</vt:lpstr>
      <vt:lpstr>1. Organized Report Directory</vt:lpstr>
      <vt:lpstr>2. Summarization File info_*name of dataset*_*date.time generated*.csv</vt:lpstr>
      <vt:lpstr>PowerPoint Presentation</vt:lpstr>
      <vt:lpstr>3. Exploratory Analysis</vt:lpstr>
      <vt:lpstr>PowerPoint Presentation</vt:lpstr>
      <vt:lpstr>PowerPoint Presentation</vt:lpstr>
      <vt:lpstr>PowerPoint Presentation</vt:lpstr>
      <vt:lpstr>3. Exploratory Analysis</vt:lpstr>
      <vt:lpstr>PowerPoint Presentation</vt:lpstr>
      <vt:lpstr>PowerPoint Presentation</vt:lpstr>
      <vt:lpstr>4. Univariate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Multiple Regression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Directions</vt:lpstr>
      <vt:lpstr>Thank you to my mentors: Tristan Hayes Dr. Fridtjof Thomas Dr. Mehmet Kocak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Miller, Winston</dc:creator>
  <cp:lastModifiedBy>Miller, Winston</cp:lastModifiedBy>
  <cp:revision>25</cp:revision>
  <dcterms:created xsi:type="dcterms:W3CDTF">2021-08-30T00:20:11Z</dcterms:created>
  <dcterms:modified xsi:type="dcterms:W3CDTF">2021-08-30T19:08:27Z</dcterms:modified>
</cp:coreProperties>
</file>